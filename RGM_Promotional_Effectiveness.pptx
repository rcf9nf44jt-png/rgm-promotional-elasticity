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elasticity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41A45"/>
              </a:solidFill>
            </c:spPr>
          </c:dPt>
          <c:cat>
            <c:strRef>
              <c:f>Sheet1!$A$2:$A$5</c:f>
              <c:strCache>
                <c:ptCount val="4"/>
                <c:pt idx="0">
                  <c:v>Oral Hygiene</c:v>
                </c:pt>
                <c:pt idx="1">
                  <c:v>Cold Cereal</c:v>
                </c:pt>
                <c:pt idx="2">
                  <c:v>Bag Snacks</c:v>
                </c:pt>
                <c:pt idx="3">
                  <c:v>Frozen Pizza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-1.07</c:v>
                </c:pt>
                <c:pt idx="1">
                  <c:v>-1.62</c:v>
                </c:pt>
                <c:pt idx="2">
                  <c:v>-1.7</c:v>
                </c:pt>
                <c:pt idx="3">
                  <c:v>-2.78</c:v>
                </c:pt>
              </c:numCache>
            </c:numRef>
          </c:val>
        </c:ser>
        <c:dLbls>
          <c:numFmt formatCode="0.00;-0.00" sourceLinked="0"/>
          <c:txPr>
            <a:bodyPr/>
            <a:lstStyle/>
            <a:p>
              <a:pPr>
                <a:defRPr sz="1300" b="1">
                  <a:solidFill>
                    <a:srgbClr val="1E2761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6785"/>
            </a:solidFill>
          </a:ln>
        </c:spPr>
        <c:txPr>
          <a:bodyPr/>
          <a:lstStyle/>
          <a:p>
            <a:pPr>
              <a:defRPr sz="1300">
                <a:solidFill>
                  <a:srgbClr val="1E276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ROI</c:v>
                </c:pt>
              </c:strCache>
            </c:strRef>
          </c:tx>
          <c:dPt>
            <c:idx val="0"/>
            <c:spPr>
              <a:solidFill>
                <a:srgbClr val="D64550"/>
              </a:solidFill>
            </c:spPr>
          </c:dPt>
          <c:dPt>
            <c:idx val="1"/>
            <c:spPr>
              <a:solidFill>
                <a:srgbClr val="D64550"/>
              </a:solidFill>
            </c:spPr>
          </c:dPt>
          <c:dPt>
            <c:idx val="2"/>
            <c:spPr>
              <a:solidFill>
                <a:srgbClr val="D64550"/>
              </a:solidFill>
            </c:spPr>
          </c:dPt>
          <c:dPt>
            <c:idx val="3"/>
            <c:spPr>
              <a:solidFill>
                <a:srgbClr val="1FA37D"/>
              </a:solidFill>
            </c:spPr>
          </c:dPt>
          <c:cat>
            <c:strRef>
              <c:f>Sheet1!$A$2:$A$5</c:f>
              <c:strCache>
                <c:ptCount val="4"/>
                <c:pt idx="0">
                  <c:v>TPR only</c:v>
                </c:pt>
                <c:pt idx="1">
                  <c:v>Feature only</c:v>
                </c:pt>
                <c:pt idx="2">
                  <c:v>Display only</c:v>
                </c:pt>
                <c:pt idx="3">
                  <c:v>Feature + Display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-0.6099</c:v>
                </c:pt>
                <c:pt idx="1">
                  <c:v>-0.0768</c:v>
                </c:pt>
                <c:pt idx="2">
                  <c:v>-0.0456</c:v>
                </c:pt>
                <c:pt idx="3">
                  <c:v>0.0707</c:v>
                </c:pt>
              </c:numCache>
            </c:numRef>
          </c:val>
        </c:ser>
        <c:dLbls>
          <c:numFmt formatCode="+0.0%;-0.0%" sourceLinked="0"/>
          <c:txPr>
            <a:bodyPr/>
            <a:lstStyle/>
            <a:p>
              <a:pPr>
                <a:defRPr sz="1300" b="1">
                  <a:solidFill>
                    <a:srgbClr val="1E2761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6785"/>
            </a:solidFill>
          </a:ln>
        </c:spPr>
        <c:txPr>
          <a:bodyPr/>
          <a:lstStyle/>
          <a:p>
            <a:pPr>
              <a:defRPr sz="1300">
                <a:solidFill>
                  <a:srgbClr val="1E276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REVENUE MANAGEMENT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Where Should Promotional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Investment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Price elasticity and promotional ROI across 524,950 store-week transactions in U.S. grocery retail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694176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22452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5661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694176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22452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SKUs · 4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56616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694176"/>
            <a:ext cx="2788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422452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WEEKS, 2009–2011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92040"/>
            <a:ext cx="1435608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3188"/>
            <a:ext cx="14356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CADCFC"/>
                </a:solidFill>
                <a:latin typeface="Calibri"/>
              </a:rPr>
              <a:t>BAG SNACKS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59736" y="4892040"/>
            <a:ext cx="1540764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9736" y="4933188"/>
            <a:ext cx="15407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CADCFC"/>
                </a:solidFill>
                <a:latin typeface="Calibri"/>
              </a:rPr>
              <a:t>COLD CEREAL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1668" y="4892040"/>
            <a:ext cx="164592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1668" y="493318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CADCFC"/>
                </a:solidFill>
                <a:latin typeface="Calibri"/>
              </a:rPr>
              <a:t>FROZEN PIZZA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48756" y="4892040"/>
            <a:ext cx="164592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48756" y="493318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CADCFC"/>
                </a:solidFill>
                <a:latin typeface="Calibri"/>
              </a:rPr>
              <a:t>ORAL HYGIENE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FFFFFF"/>
                </a:solidFill>
                <a:latin typeface="Calibri"/>
              </a:rPr>
              <a:t>Every promotion looks successful in volume. Not every promotion pays for itself — this analysis separates the two.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785"/>
                </a:solidFill>
                <a:latin typeface="Calibri"/>
              </a:rPr>
              <a:t>David Mantilla Jaramillo  ·  dunnhumby “Breakfast at the Frat”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Two Models,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B6785"/>
                </a:solidFill>
                <a:latin typeface="Calibri"/>
              </a:rPr>
              <a:t>Does price move volume, and does that volume actually pay for the discount?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16636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691640"/>
            <a:ext cx="516636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842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02536"/>
            <a:ext cx="3977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PRICE ELASTICITY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24328"/>
            <a:ext cx="4526280" cy="566928"/>
          </a:xfrm>
          <a:prstGeom prst="roundRect">
            <a:avLst>
              <a:gd name="adj" fmla="val 12000"/>
            </a:avLst>
          </a:prstGeom>
          <a:solidFill>
            <a:srgbClr val="EE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log(UNITS) ~ log(PRICE) + FEATURE + DISPLAY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        + factor(STORE) + factor(MONTH)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3872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47472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Fit per product (55 SKUs) — not pooled. Different SKUs have different price levels and true elasticities; pooling them lets the price coefficient absorb between-product differences.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45312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38912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The coefficient on log(PRICE) IS the elasticity — log-log means no conversion is needed to read it.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536752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530352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FEATURE and DISPLAY are the key modelling choice: promoted items are cheaper AND more visible. Omit the visibility controls and the price coefficient overstates true elasticity.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19842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84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002536"/>
            <a:ext cx="3977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PROMOTIONAL ROI (PEA)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2624328"/>
            <a:ext cx="4526280" cy="566928"/>
          </a:xfrm>
          <a:prstGeom prst="roundRect">
            <a:avLst>
              <a:gd name="adj" fmla="val 12000"/>
            </a:avLst>
          </a:prstGeom>
          <a:solidFill>
            <a:srgbClr val="EE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69748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Portfolio ROI = Σ incremental profit ÷ Σ investment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353872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2008" y="347472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Baseline = median UNITS in non-promoted weeks, per product per store (median, not mean, so one spike can't inflate it; 10+ clean weeks required).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445312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8" y="438912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Gross margin assumed at 30% on base price — stated openly, and tested at 25% and 35% for sensitivity.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5367528"/>
            <a:ext cx="100584" cy="1005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8" y="5303520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Aggregated as total profit ÷ total investment, never the average of individual ROIs — averaging ratios overweights small events.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785"/>
                </a:solidFill>
                <a:latin typeface="Calibri"/>
              </a:rPr>
              <a:t>Both models were stress-tested before use: sheet parsing verified against raw cell counts, store-tier duplicates disclosed, margin assumption checked at 25–35%.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Price Sensitivity Varies Nearly 3x Across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785"/>
                </a:solidFill>
                <a:latin typeface="Calibri"/>
              </a:rPr>
              <a:t>Median own-price elasticity, significant products only (p&lt;0.05), controlling for store and month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00200"/>
          <a:ext cx="63093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78040" y="160020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ALL FOUR CATEGORIES ARE ELASTIC (β &lt; −1)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1965960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A price cut lifts volume more than proportionally in every category — the promotional lever works everywhere. Frozen Pizza is the most responsive; Oral Hygiene the least.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971800"/>
            <a:ext cx="4343400" cy="150876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313639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 SECOND, ROBUST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3474719"/>
            <a:ext cx="3886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UPSCALE-tier stores are structurally </a:t>
            </a:r>
            <a:r>
              <a:rPr sz="1250" b="1" i="0">
                <a:solidFill>
                  <a:srgbClr val="1E2761"/>
                </a:solidFill>
                <a:latin typeface="Calibri"/>
              </a:rPr>
              <a:t>less price-sensitive</a:t>
            </a:r>
            <a:r>
              <a:rPr sz="1250" b="0" i="0">
                <a:solidFill>
                  <a:srgbClr val="2A2A2A"/>
                </a:solidFill>
                <a:latin typeface="Calibri"/>
              </a:rPr>
              <a:t> than MAINSTREAM in 3 of 4 categories — in Cold Cereal, 14 of 14 significant products agree on direction. Evidence for channel-differentiated pricing.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484632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B6785"/>
                </a:solidFill>
                <a:latin typeface="Calibri"/>
              </a:rPr>
              <a:t>The mirror-image “VALUE tier is more price-sensitive” story did NOT hold consistently across categories — not reported as a general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Half of All Promotions Are Losing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785"/>
                </a:solidFill>
                <a:latin typeface="Calibri"/>
              </a:rPr>
              <a:t>Portfolio ROI by mechanic = total incremental profit ÷ total investment, 101,382 events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00200"/>
          <a:ext cx="63093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78040" y="1600200"/>
            <a:ext cx="4343400" cy="1234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1728216"/>
            <a:ext cx="3794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50008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of all promotional events are TPR-only — and return –61% portfolio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3108960"/>
            <a:ext cx="4343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Only Feature + Display is value-accretive at the portfolio level. TPR-only is not just weak, it dominates volume AND destroys the most margin — only 1 in 9 individual TPR events even breaks 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4114800"/>
            <a:ext cx="4343400" cy="914400"/>
          </a:xfrm>
          <a:prstGeom prst="roundRect">
            <a:avLst>
              <a:gd name="adj" fmla="val 10000"/>
            </a:avLst>
          </a:prstGeom>
          <a:solidFill>
            <a:srgbClr val="EE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4233672"/>
            <a:ext cx="3886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Bag Snacks and Oral Hygiene: </a:t>
            </a:r>
            <a:r>
              <a:rPr sz="1250" b="0" i="0">
                <a:solidFill>
                  <a:srgbClr val="2A2A2A"/>
                </a:solidFill>
                <a:latin typeface="Calibri"/>
              </a:rPr>
              <a:t>no current mechanic has a positive portfolio ROI in either category.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521208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B6785"/>
                </a:solidFill>
                <a:latin typeface="Calibri"/>
              </a:rPr>
              <a:t>Feature+Display (best) and TPR-only (worst) hold their rank at 25%, 30%, and 35% margin assumptions. Display-only / Feature-only are margin-sensitive.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THE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Shift Promotional Investment from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TPR-Only to Feature +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CADCFC"/>
                </a:solidFill>
                <a:latin typeface="Calibri"/>
              </a:rPr>
              <a:t>TPR-only discounting drives 56% of promotional volume and returns −61% portfolio ROI — the single largest source of value destruction in the promotional program. Feature+Display is the only mechanic with a portfolio ROI that stays positive across every margin assumption tested. Reallocating toward it — starting in Cold Cereal and Frozen Pizza, where it is already proven profitable — recovers margin without new spend.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401568"/>
            <a:ext cx="118872" cy="118872"/>
          </a:xfrm>
          <a:prstGeom prst="ellipse">
            <a:avLst/>
          </a:prstGeom>
          <a:solidFill>
            <a:srgbClr val="1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1014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Elasticity confirms all four categories respond to price — the lever works. The problem is which mechanic, not whether to promote.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087368"/>
            <a:ext cx="118872" cy="118872"/>
          </a:xfrm>
          <a:prstGeom prst="ellipse">
            <a:avLst/>
          </a:prstGeom>
          <a:solidFill>
            <a:srgbClr val="1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1014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Bag Snacks and Oral Hygiene have no currently profitable mechanic. Pause discretionary spend there pending a redesigned offer — don't default to TPR.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773168"/>
            <a:ext cx="118872" cy="118872"/>
          </a:xfrm>
          <a:prstGeom prst="ellipse">
            <a:avLst/>
          </a:prstGeom>
          <a:solidFill>
            <a:srgbClr val="1FA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014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UPSCALE-tier stores are structurally less price-sensitive. A channel-differentiated promotion depth is a lower-risk lever than a blanket price cut.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715000"/>
            <a:ext cx="10607040" cy="777240"/>
          </a:xfrm>
          <a:prstGeom prst="roundRect">
            <a:avLst>
              <a:gd name="adj" fmla="val 10000"/>
            </a:avLst>
          </a:prstGeom>
          <a:solidFill>
            <a:srgbClr val="28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24728"/>
            <a:ext cx="10149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ADCFC"/>
                </a:solidFill>
                <a:latin typeface="Calibri"/>
              </a:rPr>
              <a:t>LIMITATIONS: 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30% gross margin is an assumption (tested 25–35%). Promotions aren't randomly assigned — estimates carry selection bias. 2009–2011 US grocery data is directional, not a plug-in number for a different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